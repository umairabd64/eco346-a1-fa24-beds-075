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303C"/>
                </a:solidFill>
                <a:latin typeface="Calibri"/>
              </a:rPr>
              <a:t>Weighted mean annual earnings by age band (Rs)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mean earnings (Rs)</c:v>
                </c:pt>
              </c:strCache>
            </c:strRef>
          </c:tx>
          <c:spPr>
            <a:solidFill>
              <a:srgbClr val="B22222"/>
            </a:solidFill>
            <a:ln w="38100" cap="flat">
              <a:solidFill>
                <a:srgbClr val="B222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B22222"/>
              </a:solidFill>
              <a:ln w="9525" cap="flat">
                <a:solidFill>
                  <a:srgbClr val="B222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15-19</c:v>
                  </c:pt>
                  <c:pt idx="1">
                    <c:v>20-24</c:v>
                  </c:pt>
                  <c:pt idx="2">
                    <c:v>25-29</c:v>
                  </c:pt>
                  <c:pt idx="3">
                    <c:v>30-34</c:v>
                  </c:pt>
                  <c:pt idx="4">
                    <c:v>35-39</c:v>
                  </c:pt>
                  <c:pt idx="5">
                    <c:v>40-44</c:v>
                  </c:pt>
                  <c:pt idx="6">
                    <c:v>45-49</c:v>
                  </c:pt>
                  <c:pt idx="7">
                    <c:v>50-54</c:v>
                  </c:pt>
                  <c:pt idx="8">
                    <c:v>55-59</c:v>
                  </c:pt>
                  <c:pt idx="9">
                    <c:v>60-64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192523</c:v>
                </c:pt>
                <c:pt idx="1">
                  <c:v>222948</c:v>
                </c:pt>
                <c:pt idx="2">
                  <c:v>303154</c:v>
                </c:pt>
                <c:pt idx="3">
                  <c:v>379254</c:v>
                </c:pt>
                <c:pt idx="4">
                  <c:v>360221</c:v>
                </c:pt>
                <c:pt idx="5">
                  <c:v>446533</c:v>
                </c:pt>
                <c:pt idx="6">
                  <c:v>431697</c:v>
                </c:pt>
                <c:pt idx="7">
                  <c:v>530773</c:v>
                </c:pt>
                <c:pt idx="8">
                  <c:v>542400</c:v>
                </c:pt>
                <c:pt idx="9">
                  <c:v>414262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"/>
          <c:min val="0"/>
        </c:scaling>
        <c:delete val="0"/>
        <c:axPos val="l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Variant: 75 = 9 x 8 + 3, so variant 3 = Sindh urban. Sample = persons 15-64 with earn_annual &gt; 0, merged to the household file by hhid for hhweight, prov_code, urban_rural. 2,644 earners. All statistics weighted by hhweight.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Bins are 0.1 wide in log10 units from 4.0 to 7.0; density per log10 unit. 2 earners fall outside Rs 10,000-10,000,000 and are excluded from the bars (percentiles use all 2,644). Weighted quantile: sort, cumulative weight share, smallest x where share &gt;=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Principles: log scale (multiplicative gaps), overplotting (alpha + jitter because ages are integers and earnings are rounded), conditional means (band means on a common scale), data-ink (grey panel and scientific notation removed), direct labelling. What the default shows that the redesign hides: the extreme top earners (up to about Rs 7.2 million) look ordinary on a log axis, and the 2 earners below Rs 10,000 are cut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 means are weighted by hhweight and rounded to the rupee; 45-49 = Rs 431,697. All bands have at least 30 observations (smallest is 60-64 with 72), so no hollow markers. Python reproduces the table to the rupee.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earns what in urban Sindh?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PSLM 2019-20  |  Variant 3: Sindh, urban  |  FA24-BEDS-075</a:t>
            </a:r>
            <a:endParaRPr lang="en-US" sz="1600" dirty="0"/>
          </a:p>
        </p:txBody>
      </p:sp>
      <p:sp>
        <p:nvSpPr>
          <p:cNvPr id="4" name="stat card 1"/>
          <p:cNvSpPr/>
          <p:nvPr/>
        </p:nvSpPr>
        <p:spPr>
          <a:xfrm>
            <a:off x="548640" y="22860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2E40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2,644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earners aged 15-64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2606040" y="22860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2E40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06040" y="2468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264,000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4663440" y="22860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2E4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468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696,000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percentile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6720840" y="22860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2E4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468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/ 10th ratio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hhweight. Data: course repository, merged on hhid.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earn under Rs 264,000; the top tenth over Rs 696,000</a:t>
            </a:r>
            <a:endParaRPr lang="en-US" sz="2400" dirty="0"/>
          </a:p>
        </p:txBody>
      </p:sp>
      <p:pic>
        <p:nvPicPr>
          <p:cNvPr id="3" name="Image 0" descr="Weighted histogram of annual earnings on a log scale with median and 90th percentile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4653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37160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Bell-shaped on a log scale, long right tail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is 5.8 times the 10th (Rs 696,000 vs Rs 120,000)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Rs 264,000 vs unweighted Rs 252,000: higher earners carry larger weights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from R's default to a readable figure</a:t>
            </a:r>
            <a:endParaRPr lang="en-US" sz="2600" dirty="0"/>
          </a:p>
        </p:txBody>
      </p:sp>
      <p:pic>
        <p:nvPicPr>
          <p:cNvPr id="3" name="Image 0" descr="Default ggplot scatter of earnings against 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520440" cy="2514600"/>
          </a:xfrm>
          <a:prstGeom prst="rect">
            <a:avLst/>
          </a:prstGeom>
        </p:spPr>
      </p:pic>
      <p:pic>
        <p:nvPicPr>
          <p:cNvPr id="4" name="Image 1" descr="Redesigned scatter with log axis, jitter, transparency and weighted band mea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051560"/>
            <a:ext cx="3902659" cy="2514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11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geom_point() only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25196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31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dots are crushed into a thin strip; stripes hide the density; axis says 6e+06.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251960" y="39319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rupee axis, transparent jittered dots, weighted band means, and a title that states the finding.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earnings rise 79% between the late 20s and late 50s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371600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303,154 (25-29) to Rs 542,400 (55-59)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band (60-64) falls to Rs 414,262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tell: whether one person's pay follows this path. These are different people at one date, so age and cohort are mixed.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1 - FA24-BEDS-075</dc:title>
  <dc:subject>PptxGenJS Presentation</dc:subject>
  <dc:creator>PptxGenJS</dc:creator>
  <cp:lastModifiedBy>PptxGenJS</cp:lastModifiedBy>
  <cp:revision>1</cp:revision>
  <dcterms:created xsi:type="dcterms:W3CDTF">2026-10-26T10:36:02Z</dcterms:created>
  <dcterms:modified xsi:type="dcterms:W3CDTF">2026-10-26T10:36:02Z</dcterms:modified>
</cp:coreProperties>
</file>